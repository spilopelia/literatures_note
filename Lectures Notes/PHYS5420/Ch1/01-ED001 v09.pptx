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361" r:id="rId4"/>
    <p:sldId id="301" r:id="rId5"/>
    <p:sldId id="333" r:id="rId6"/>
    <p:sldId id="327" r:id="rId7"/>
    <p:sldId id="334" r:id="rId8"/>
    <p:sldId id="335" r:id="rId9"/>
    <p:sldId id="336" r:id="rId10"/>
    <p:sldId id="337" r:id="rId11"/>
    <p:sldId id="338" r:id="rId12"/>
    <p:sldId id="339" r:id="rId13"/>
    <p:sldId id="305" r:id="rId14"/>
    <p:sldId id="340" r:id="rId15"/>
    <p:sldId id="330" r:id="rId16"/>
    <p:sldId id="341" r:id="rId17"/>
    <p:sldId id="331" r:id="rId18"/>
    <p:sldId id="359" r:id="rId19"/>
    <p:sldId id="343" r:id="rId20"/>
    <p:sldId id="344" r:id="rId21"/>
    <p:sldId id="345" r:id="rId22"/>
    <p:sldId id="332" r:id="rId23"/>
    <p:sldId id="346" r:id="rId24"/>
    <p:sldId id="325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13" r:id="rId33"/>
    <p:sldId id="360" r:id="rId34"/>
    <p:sldId id="328" r:id="rId35"/>
    <p:sldId id="354" r:id="rId36"/>
    <p:sldId id="329" r:id="rId37"/>
    <p:sldId id="362" r:id="rId38"/>
    <p:sldId id="355" r:id="rId39"/>
    <p:sldId id="357" r:id="rId40"/>
    <p:sldId id="358" r:id="rId41"/>
  </p:sldIdLst>
  <p:sldSz cx="9144000" cy="6858000" type="screen4x3"/>
  <p:notesSz cx="7019925" cy="9305925"/>
  <p:embeddedFontLst>
    <p:embeddedFont>
      <p:font typeface="Cambria Math" panose="02040503050406030204" pitchFamily="18" charset="0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7F7F7F"/>
    <a:srgbClr val="385D8A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041" autoAdjust="0"/>
  </p:normalViewPr>
  <p:slideViewPr>
    <p:cSldViewPr>
      <p:cViewPr varScale="1">
        <p:scale>
          <a:sx n="116" d="100"/>
          <a:sy n="116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notesViewPr>
    <p:cSldViewPr>
      <p:cViewPr varScale="1">
        <p:scale>
          <a:sx n="75" d="100"/>
          <a:sy n="75" d="100"/>
        </p:scale>
        <p:origin x="-2904" y="-86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688" y="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7F96AE80-2B49-490C-A4DD-57088BB5CCFA}" type="datetimeFigureOut">
              <a:rPr lang="en-GB" smtClean="0"/>
              <a:t>27/04/2021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20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688" y="883920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522B4580-5E2D-45E3-B465-1AF22E2A14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279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/>
          <a:lstStyle>
            <a:lvl1pPr algn="r">
              <a:defRPr sz="1200"/>
            </a:lvl1pPr>
          </a:lstStyle>
          <a:p>
            <a:fld id="{F5E442E8-572F-4774-B6CB-7DBC33C9640E}" type="datetimeFigureOut">
              <a:rPr lang="en-GB" smtClean="0"/>
              <a:t>27/04/2021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13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79" tIns="46640" rIns="93279" bIns="4664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79" tIns="46640" rIns="93279" bIns="466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 anchor="b"/>
          <a:lstStyle>
            <a:lvl1pPr algn="r">
              <a:defRPr sz="1200"/>
            </a:lvl1pPr>
          </a:lstStyle>
          <a:p>
            <a:fld id="{048C9849-E4E8-4237-AD02-FED6F05BD2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48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39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01-ED001-v07</a:t>
            </a:r>
          </a:p>
          <a:p>
            <a:r>
              <a:rPr lang="en-US" dirty="0"/>
              <a:t>Slide: 17</a:t>
            </a:r>
          </a:p>
          <a:p>
            <a:r>
              <a:rPr lang="en-US" dirty="0"/>
              <a:t>Remove the dot in the final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047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>
                <a:solidFill>
                  <a:prstClr val="black"/>
                </a:solidFill>
              </a:rPr>
              <a:pPr/>
              <a:t>37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615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49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B8CA9-15C2-4754-A837-BFA6142B7DF6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85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9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B887-B807-474E-BA61-182BA2992CA5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0526-E7FF-4480-ACA2-F31EF105F758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0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8C1-63E5-465F-B556-2D2205190F61}" type="datetime1">
              <a:rPr lang="en-GB" smtClean="0"/>
              <a:t>27/04/2021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15BC7-1FFC-429E-AF9B-2A786DBF7127}" type="datetime1">
              <a:rPr lang="en-GB" smtClean="0"/>
              <a:t>27/04/2021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15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B43DB-B349-4749-BB20-3847188C8DE4}" type="datetime1">
              <a:rPr lang="en-GB" smtClean="0"/>
              <a:t>27/04/2021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67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C7FF5-826C-445B-918B-3F5F0EF62903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3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9519-3E1E-4AF8-9614-DB18E1C52356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73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6631-D093-461B-B6EF-3005777FE44E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1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D030-61CC-4D6D-BF56-872476325D70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26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FAE05-0C58-462E-88CF-688688A834E9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27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9.png"/><Relationship Id="rId4" Type="http://schemas.openxmlformats.org/officeDocument/2006/relationships/image" Target="../media/image3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7.emf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solidFill>
                  <a:srgbClr val="FF0000"/>
                </a:solidFill>
              </a:rPr>
              <a:t>Chapter 1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Introduction to electrodynamics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F743-1473-4ACB-B7E1-2E63993EC005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0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The laws of 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Covariance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Unification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Standard </a:t>
            </a:r>
            <a:r>
              <a:rPr lang="en-US" sz="3600" dirty="0" smtClean="0"/>
              <a:t>references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B-EB9A-40E6-AA2C-6DCE2D4E569F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4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/>
              <a:t>Appendix</a:t>
            </a:r>
            <a:endParaRPr lang="en-US" sz="3600" u="sng" dirty="0"/>
          </a:p>
          <a:p>
            <a:pPr marL="742950" indent="-742950">
              <a:buAutoNum type="alphaUcPeriod"/>
            </a:pPr>
            <a:r>
              <a:rPr lang="en-US" sz="3600" dirty="0"/>
              <a:t>Metric and units</a:t>
            </a:r>
          </a:p>
          <a:p>
            <a:pPr marL="742950" indent="-742950">
              <a:buFont typeface="Arial" panose="020B0604020202020204" pitchFamily="34" charset="0"/>
              <a:buAutoNum type="alphaUcPeriod"/>
            </a:pPr>
            <a:r>
              <a:rPr lang="en-US" sz="3600" dirty="0" smtClean="0"/>
              <a:t>Index notation</a:t>
            </a:r>
          </a:p>
          <a:p>
            <a:pPr marL="742950" indent="-742950">
              <a:buFont typeface="Arial" panose="020B0604020202020204" pitchFamily="34" charset="0"/>
              <a:buAutoNum type="alphaUcPeriod"/>
            </a:pPr>
            <a:r>
              <a:rPr lang="en-US" sz="3600" dirty="0" smtClean="0"/>
              <a:t>Analogy</a:t>
            </a:r>
            <a:endParaRPr lang="en-US" sz="3600" dirty="0"/>
          </a:p>
          <a:p>
            <a:pPr marL="742950" indent="-742950">
              <a:buAutoNum type="alphaUcPeriod"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B-EB9A-40E6-AA2C-6DCE2D4E569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27/04/2021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49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Introduction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1.1	Applications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1.2	Fundamental interactions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7339-579C-462D-92F6-910A14A8B987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75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Name 3 applications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Preferably involving different laws of EM</a:t>
            </a:r>
            <a:endParaRPr lang="zh-HK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0012-320B-4DC4-A483-32D6DEFF0DD7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07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Introduction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1.1	Applications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1.2	Fundamental interactions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6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8935-F72D-403C-B077-4C15FB318F0A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altLang="zh-HK" dirty="0"/>
              <a:t>EM is the best understood of fundamental interactions</a:t>
            </a:r>
          </a:p>
          <a:p>
            <a:endParaRPr lang="en-US" altLang="zh-HK" dirty="0"/>
          </a:p>
          <a:p>
            <a:r>
              <a:rPr lang="en-US" altLang="zh-HK" dirty="0"/>
              <a:t>Leads to many concepts at the core of theoretical physics</a:t>
            </a:r>
            <a:endParaRPr lang="zh-HK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B385A-2E67-48A7-895C-DB0EF1EFD992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97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15C75-A67E-491D-AB2F-6CC369DF4FA2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內容版面配置區 8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71559251"/>
                  </p:ext>
                </p:extLst>
              </p:nvPr>
            </p:nvGraphicFramePr>
            <p:xfrm>
              <a:off x="457200" y="1066800"/>
              <a:ext cx="8229600" cy="4191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chemeClr val="tx1"/>
                              </a:solidFill>
                            </a:rPr>
                            <a:t>Interaction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chemeClr val="tx1"/>
                              </a:solidFill>
                            </a:rPr>
                            <a:t>Strength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rgbClr val="0070C0"/>
                              </a:solidFill>
                            </a:rPr>
                            <a:t>Strong</a:t>
                          </a:r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280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−15</m:t>
                                    </m:r>
                                  </m:sup>
                                </m:sSup>
                                <m:r>
                                  <a:rPr lang="en-US" altLang="zh-HK" sz="2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HK" sz="2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rgbClr val="00B050"/>
                              </a:solidFill>
                            </a:rPr>
                            <a:t>EM</a:t>
                          </a:r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rgbClr val="0070C0"/>
                              </a:solidFill>
                            </a:rPr>
                            <a:t>Weak</a:t>
                          </a:r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HK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−18</m:t>
                                    </m:r>
                                  </m:sup>
                                </m:sSup>
                                <m:r>
                                  <a:rPr lang="en-US" altLang="zh-HK" sz="2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HK" sz="2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>
                              <a:solidFill>
                                <a:srgbClr val="00B050"/>
                              </a:solidFill>
                            </a:rPr>
                            <a:t>Gravitation </a:t>
                          </a:r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HK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HK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內容版面配置區 8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71559251"/>
                  </p:ext>
                </p:extLst>
              </p:nvPr>
            </p:nvGraphicFramePr>
            <p:xfrm>
              <a:off x="457200" y="1066800"/>
              <a:ext cx="8229600" cy="4191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/>
                    <a:gridCol w="2743200"/>
                    <a:gridCol w="2743200"/>
                  </a:tblGrid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chemeClr val="tx1"/>
                              </a:solidFill>
                            </a:rPr>
                            <a:t>Interaction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chemeClr val="tx1"/>
                              </a:solidFill>
                            </a:rPr>
                            <a:t>Strength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zh-HK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rgbClr val="0070C0"/>
                              </a:solidFill>
                            </a:rPr>
                            <a:t>Strong</a:t>
                          </a:r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2"/>
                          <a:stretch>
                            <a:fillRect l="-100444" t="-102190" r="-100667" b="-3029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2"/>
                          <a:stretch>
                            <a:fillRect l="-200444" t="-102190" r="-667" b="-302920"/>
                          </a:stretch>
                        </a:blipFill>
                      </a:tcPr>
                    </a:tc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rgbClr val="00B050"/>
                              </a:solidFill>
                            </a:rPr>
                            <a:t>EM</a:t>
                          </a:r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200725" r="-100667" b="-20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200725" r="-667" b="-200725"/>
                          </a:stretch>
                        </a:blipFill>
                      </a:tcPr>
                    </a:tc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rgbClr val="0070C0"/>
                              </a:solidFill>
                            </a:rPr>
                            <a:t>Weak</a:t>
                          </a:r>
                          <a:endParaRPr lang="zh-HK" altLang="en-US" sz="28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302920" r="-100667" b="-10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302920" r="-667" b="-102190"/>
                          </a:stretch>
                        </a:blipFill>
                      </a:tcPr>
                    </a:tc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HK" sz="2800" dirty="0" smtClean="0">
                              <a:solidFill>
                                <a:srgbClr val="00B050"/>
                              </a:solidFill>
                            </a:rPr>
                            <a:t>Gravitation </a:t>
                          </a:r>
                          <a:endParaRPr lang="zh-HK" altLang="en-US" sz="28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400000" r="-100667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HK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400000" r="-667" b="-144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965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Range of interaction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46FA-C597-48BF-B73F-8F535EE1080F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09600" y="1392238"/>
                <a:ext cx="2952750" cy="95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~ </m:t>
                      </m:r>
                      <m:f>
                        <m:f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HK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92238"/>
                <a:ext cx="2952750" cy="9566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5954382" y="1613835"/>
            <a:ext cx="152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/>
              <a:t>Yukawa</a:t>
            </a:r>
            <a:endParaRPr lang="zh-HK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219200" y="2581734"/>
                <a:ext cx="1524000" cy="96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HK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3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000" b="0" i="1" dirty="0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altLang="zh-HK" sz="3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HK" sz="30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581734"/>
                <a:ext cx="1524000" cy="96898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838201" y="4573549"/>
            <a:ext cx="857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>
                <a:solidFill>
                  <a:srgbClr val="00B050"/>
                </a:solidFill>
              </a:rPr>
              <a:t>EM</a:t>
            </a:r>
            <a:endParaRPr lang="zh-HK" altLang="en-US" sz="2600" dirty="0">
              <a:solidFill>
                <a:srgbClr val="00B05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97658" y="4573549"/>
            <a:ext cx="1857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>
                <a:solidFill>
                  <a:srgbClr val="00B050"/>
                </a:solidFill>
              </a:rPr>
              <a:t>p</a:t>
            </a:r>
            <a:r>
              <a:rPr lang="en-US" altLang="zh-HK" sz="2600" dirty="0" smtClean="0">
                <a:solidFill>
                  <a:srgbClr val="00B050"/>
                </a:solidFill>
              </a:rPr>
              <a:t>hoton </a:t>
            </a:r>
            <a:endParaRPr lang="zh-HK" altLang="en-US" sz="2600" dirty="0">
              <a:solidFill>
                <a:srgbClr val="00B05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8200" y="5374957"/>
            <a:ext cx="18764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>
                <a:solidFill>
                  <a:srgbClr val="00B050"/>
                </a:solidFill>
              </a:rPr>
              <a:t>Gravitation</a:t>
            </a:r>
            <a:endParaRPr lang="zh-HK" altLang="en-US" sz="2600" dirty="0">
              <a:solidFill>
                <a:srgbClr val="00B05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97658" y="5374957"/>
            <a:ext cx="1857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>
                <a:solidFill>
                  <a:srgbClr val="00B050"/>
                </a:solidFill>
              </a:rPr>
              <a:t>graviton</a:t>
            </a:r>
            <a:endParaRPr lang="zh-HK" altLang="en-US" sz="2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787694" y="4974965"/>
                <a:ext cx="185737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HK" sz="2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HK" altLang="en-US" sz="2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694" y="4974965"/>
                <a:ext cx="1857375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5943218" y="2579123"/>
            <a:ext cx="1358118" cy="1858128"/>
            <a:chOff x="1497287" y="2168461"/>
            <a:chExt cx="1689890" cy="2312045"/>
          </a:xfrm>
        </p:grpSpPr>
        <p:grpSp>
          <p:nvGrpSpPr>
            <p:cNvPr id="14" name="Group 13"/>
            <p:cNvGrpSpPr/>
            <p:nvPr/>
          </p:nvGrpSpPr>
          <p:grpSpPr>
            <a:xfrm rot="19415989">
              <a:off x="1497287" y="2202269"/>
              <a:ext cx="114300" cy="1205946"/>
              <a:chOff x="1943100" y="2527854"/>
              <a:chExt cx="0" cy="187849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flipV="1">
                <a:off x="1943100" y="2527854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1943100" y="3429000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 rot="1768518">
              <a:off x="1568081" y="3274560"/>
              <a:ext cx="114300" cy="1205946"/>
              <a:chOff x="1943100" y="2527854"/>
              <a:chExt cx="0" cy="1878492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V="1">
                <a:off x="1943100" y="2527854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1943100" y="3429000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 rot="1768518">
              <a:off x="3007246" y="2168461"/>
              <a:ext cx="114300" cy="1205946"/>
              <a:chOff x="1943100" y="2527854"/>
              <a:chExt cx="0" cy="1878492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V="1">
                <a:off x="1943100" y="2527854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1943100" y="3429000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 rot="19352560">
              <a:off x="3072877" y="3110827"/>
              <a:ext cx="114300" cy="1205946"/>
              <a:chOff x="1943100" y="2527854"/>
              <a:chExt cx="0" cy="1878492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flipV="1">
                <a:off x="1943100" y="2527854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1943100" y="3429000"/>
                <a:ext cx="0" cy="97734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 rot="5156223">
              <a:off x="2255220" y="2917037"/>
              <a:ext cx="84848" cy="847064"/>
              <a:chOff x="1943100" y="2527854"/>
              <a:chExt cx="0" cy="187849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V="1">
                <a:off x="1943100" y="2527854"/>
                <a:ext cx="0" cy="977346"/>
              </a:xfrm>
              <a:prstGeom prst="line">
                <a:avLst/>
              </a:prstGeom>
              <a:ln w="19050">
                <a:solidFill>
                  <a:srgbClr val="00B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1943100" y="3429000"/>
                <a:ext cx="0" cy="977346"/>
              </a:xfrm>
              <a:prstGeom prst="line">
                <a:avLst/>
              </a:prstGeom>
              <a:ln w="19050">
                <a:solidFill>
                  <a:srgbClr val="00B050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908776" y="2874927"/>
                  <a:ext cx="673480" cy="459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zh-HK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76" y="2874927"/>
                  <a:ext cx="673480" cy="45955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1860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895600"/>
                <a:ext cx="8229600" cy="323056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HK" dirty="0"/>
                  <a:t>Create mass,   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HK" dirty="0"/>
              </a:p>
              <a:p>
                <a:pPr>
                  <a:spcAft>
                    <a:spcPts val="1200"/>
                  </a:spcAft>
                </a:pPr>
                <a:r>
                  <a:rPr lang="en-US" altLang="zh-HK" dirty="0"/>
                  <a:t>Violation of energy conservation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H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HK" b="0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H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H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~ ℏ</m:t>
                    </m:r>
                  </m:oMath>
                </a14:m>
                <a:r>
                  <a:rPr lang="en-US" altLang="zh-HK" dirty="0"/>
                  <a:t>,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H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~ ℏ/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HK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 ~  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H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 ~  ℏ/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𝑚𝑐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895600"/>
                <a:ext cx="8229600" cy="3230563"/>
              </a:xfrm>
              <a:blipFill rotWithShape="0">
                <a:blip r:embed="rId2"/>
                <a:stretch>
                  <a:fillRect l="-1481" t="-358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2C55-D1FE-4315-8D34-88C0DF19DF80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10</a:t>
            </a:fld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 rot="19415989">
            <a:off x="3581400" y="296820"/>
            <a:ext cx="124607" cy="1314698"/>
            <a:chOff x="1943100" y="2527854"/>
            <a:chExt cx="0" cy="1878492"/>
          </a:xfrm>
        </p:grpSpPr>
        <p:cxnSp>
          <p:nvCxnSpPr>
            <p:cNvPr id="22" name="Straight Connector 21"/>
            <p:cNvCxnSpPr/>
            <p:nvPr/>
          </p:nvCxnSpPr>
          <p:spPr>
            <a:xfrm flipV="1">
              <a:off x="1943100" y="2527854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1943100" y="3429000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 rot="1768518">
            <a:off x="3658578" y="1465809"/>
            <a:ext cx="124607" cy="1314698"/>
            <a:chOff x="1943100" y="2527854"/>
            <a:chExt cx="0" cy="1878492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1943100" y="2527854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1943100" y="3429000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1768518">
            <a:off x="5227525" y="259963"/>
            <a:ext cx="124607" cy="1314698"/>
            <a:chOff x="1943100" y="2527854"/>
            <a:chExt cx="0" cy="1878492"/>
          </a:xfrm>
        </p:grpSpPr>
        <p:cxnSp>
          <p:nvCxnSpPr>
            <p:cNvPr id="18" name="Straight Connector 17"/>
            <p:cNvCxnSpPr/>
            <p:nvPr/>
          </p:nvCxnSpPr>
          <p:spPr>
            <a:xfrm flipV="1">
              <a:off x="1943100" y="2527854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1943100" y="3429000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 rot="19352560">
            <a:off x="5299075" y="1287311"/>
            <a:ext cx="124607" cy="1314698"/>
            <a:chOff x="1943100" y="2527854"/>
            <a:chExt cx="0" cy="1878492"/>
          </a:xfrm>
        </p:grpSpPr>
        <p:cxnSp>
          <p:nvCxnSpPr>
            <p:cNvPr id="16" name="Straight Connector 15"/>
            <p:cNvCxnSpPr/>
            <p:nvPr/>
          </p:nvCxnSpPr>
          <p:spPr>
            <a:xfrm flipV="1">
              <a:off x="1943100" y="2527854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1943100" y="3429000"/>
              <a:ext cx="0" cy="977346"/>
            </a:xfrm>
            <a:prstGeom prst="line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5156223">
            <a:off x="4407682" y="1076046"/>
            <a:ext cx="92500" cy="923451"/>
            <a:chOff x="1943100" y="2527854"/>
            <a:chExt cx="0" cy="1878492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1943100" y="2527854"/>
              <a:ext cx="0" cy="977346"/>
            </a:xfrm>
            <a:prstGeom prst="line">
              <a:avLst/>
            </a:prstGeom>
            <a:ln w="22225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943100" y="3429000"/>
              <a:ext cx="0" cy="977346"/>
            </a:xfrm>
            <a:prstGeom prst="line">
              <a:avLst/>
            </a:prstGeom>
            <a:ln w="22225">
              <a:solidFill>
                <a:srgbClr val="00B050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029995" y="1030139"/>
                <a:ext cx="734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HK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995" y="1030139"/>
                <a:ext cx="73421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70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6C1D-4F84-437A-B571-BEC8CAEBE7B3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11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20772" y="1326555"/>
            <a:ext cx="1485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EM</a:t>
            </a:r>
            <a:endParaRPr lang="zh-HK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2956213" y="1326555"/>
            <a:ext cx="2971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EM waves</a:t>
            </a:r>
            <a:endParaRPr lang="zh-HK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6406381" y="1341087"/>
            <a:ext cx="2971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photons</a:t>
            </a:r>
            <a:endParaRPr lang="zh-HK" altLang="en-US" sz="3000" dirty="0"/>
          </a:p>
        </p:txBody>
      </p:sp>
      <p:sp>
        <p:nvSpPr>
          <p:cNvPr id="10" name="TextBox 9"/>
          <p:cNvSpPr txBox="1"/>
          <p:nvPr/>
        </p:nvSpPr>
        <p:spPr>
          <a:xfrm>
            <a:off x="-16933" y="2895600"/>
            <a:ext cx="21613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Gravity</a:t>
            </a:r>
            <a:endParaRPr lang="zh-HK" altLang="en-US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2483427" y="2895600"/>
            <a:ext cx="3917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Gravitational waves</a:t>
            </a:r>
            <a:endParaRPr lang="zh-HK" altLang="en-US" sz="3000" dirty="0"/>
          </a:p>
        </p:txBody>
      </p:sp>
      <p:sp>
        <p:nvSpPr>
          <p:cNvPr id="12" name="TextBox 11"/>
          <p:cNvSpPr txBox="1"/>
          <p:nvPr/>
        </p:nvSpPr>
        <p:spPr>
          <a:xfrm>
            <a:off x="6482581" y="2926755"/>
            <a:ext cx="2971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gravitons</a:t>
            </a:r>
            <a:endParaRPr lang="zh-HK" altLang="en-US" sz="3000" dirty="0"/>
          </a:p>
        </p:txBody>
      </p:sp>
      <p:sp>
        <p:nvSpPr>
          <p:cNvPr id="13" name="TextBox 12"/>
          <p:cNvSpPr txBox="1"/>
          <p:nvPr/>
        </p:nvSpPr>
        <p:spPr>
          <a:xfrm>
            <a:off x="3086100" y="4625975"/>
            <a:ext cx="2971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/>
              <a:t>LIGO 2016</a:t>
            </a:r>
            <a:endParaRPr lang="zh-HK" altLang="en-US" sz="3000" dirty="0"/>
          </a:p>
        </p:txBody>
      </p:sp>
      <p:sp>
        <p:nvSpPr>
          <p:cNvPr id="14" name="TextBox 13"/>
          <p:cNvSpPr txBox="1"/>
          <p:nvPr/>
        </p:nvSpPr>
        <p:spPr>
          <a:xfrm>
            <a:off x="6787381" y="3449598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000" dirty="0">
                <a:solidFill>
                  <a:srgbClr val="FF0000"/>
                </a:solidFill>
              </a:rPr>
              <a:t>??</a:t>
            </a:r>
            <a:endParaRPr lang="zh-HK" altLang="en-US" sz="30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049992" y="1603554"/>
            <a:ext cx="609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248400" y="1604507"/>
            <a:ext cx="609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085494" y="3199447"/>
            <a:ext cx="609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283902" y="3200400"/>
            <a:ext cx="609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572000" y="3726597"/>
            <a:ext cx="0" cy="609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55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1D38-E242-4DFC-BF4A-79D681C169DD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12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/>
              <a:t>Range and classical physics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743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Laws of EM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	Two sides to electrodynamics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2.2	Lorentz force law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2.3	Maxwell’s equations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2.4	Different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6EA77-2B91-44B1-92F0-731A8A66BDBD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16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62AB-7E7B-4715-9D6D-0E31A86145E3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14</a:t>
            </a:fld>
            <a:endParaRPr lang="en-GB"/>
          </a:p>
        </p:txBody>
      </p:sp>
      <p:sp>
        <p:nvSpPr>
          <p:cNvPr id="7" name="Arc 6"/>
          <p:cNvSpPr/>
          <p:nvPr/>
        </p:nvSpPr>
        <p:spPr>
          <a:xfrm rot="18987892">
            <a:off x="2737834" y="1666919"/>
            <a:ext cx="3668159" cy="3668159"/>
          </a:xfrm>
          <a:prstGeom prst="arc">
            <a:avLst/>
          </a:prstGeom>
          <a:ln w="22225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Arc 7"/>
          <p:cNvSpPr/>
          <p:nvPr/>
        </p:nvSpPr>
        <p:spPr>
          <a:xfrm rot="2792273" flipV="1">
            <a:off x="2737920" y="450482"/>
            <a:ext cx="3668159" cy="3668159"/>
          </a:xfrm>
          <a:prstGeom prst="arc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156020" y="824499"/>
            <a:ext cx="2821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dirty="0">
                <a:solidFill>
                  <a:srgbClr val="FF0000"/>
                </a:solidFill>
              </a:rPr>
              <a:t>Lorentz force law</a:t>
            </a:r>
            <a:endParaRPr lang="zh-HK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2800" y="4435516"/>
            <a:ext cx="2821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dirty="0">
                <a:solidFill>
                  <a:srgbClr val="FF0000"/>
                </a:solidFill>
              </a:rPr>
              <a:t>Maxwell’s equation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108" y="2362200"/>
            <a:ext cx="2821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dirty="0"/>
              <a:t>Matter</a:t>
            </a:r>
            <a:br>
              <a:rPr lang="en-US" altLang="zh-HK" sz="2800" dirty="0"/>
            </a:br>
            <a:r>
              <a:rPr lang="en-US" altLang="zh-HK" sz="2800" dirty="0"/>
              <a:t>(charge + current)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2954" y="2577644"/>
            <a:ext cx="2821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dirty="0"/>
              <a:t>Fields</a:t>
            </a:r>
          </a:p>
        </p:txBody>
      </p:sp>
    </p:spTree>
    <p:extLst>
      <p:ext uri="{BB962C8B-B14F-4D97-AF65-F5344CB8AC3E}">
        <p14:creationId xmlns:p14="http://schemas.microsoft.com/office/powerpoint/2010/main" val="162900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Laws of EM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2.1	Two sides to electrodynamics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2.2	Lorentz force law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2.3	Maxwell’s equations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2.4	Different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15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82C6-2208-493B-9D6E-44E5B4040039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0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Force on point charge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542D-D0B1-482F-A40B-492843B8F39F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1524000"/>
                <a:ext cx="4876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000"/>
                <a:ext cx="4876800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15000" y="1432445"/>
                <a:ext cx="24384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HK" sz="2800" dirty="0">
                    <a:solidFill>
                      <a:srgbClr val="00B050"/>
                    </a:solidFill>
                  </a:rPr>
                  <a:t>Units?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HK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HK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HK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HK" alt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HK" sz="2800" dirty="0">
                    <a:solidFill>
                      <a:srgbClr val="00B05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HK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HK" sz="2800" dirty="0">
                    <a:solidFill>
                      <a:srgbClr val="00B050"/>
                    </a:solidFill>
                  </a:rPr>
                  <a:t> ?</a:t>
                </a:r>
                <a:endParaRPr lang="zh-HK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1432445"/>
                <a:ext cx="2438400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4500" t="-6410" b="-17949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>
            <a:spLocks/>
          </p:cNvSpPr>
          <p:nvPr/>
        </p:nvSpPr>
        <p:spPr>
          <a:xfrm>
            <a:off x="457200" y="32755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HK" dirty="0">
                <a:solidFill>
                  <a:srgbClr val="00B0F0"/>
                </a:solidFill>
              </a:rPr>
              <a:t>Force on current</a:t>
            </a:r>
            <a:endParaRPr lang="zh-HK" alt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304800" y="4433329"/>
                <a:ext cx="4876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𝐥</m:t>
                      </m:r>
                      <m:r>
                        <a:rPr lang="en-US" altLang="zh-HK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zh-HK" altLang="en-US" sz="32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4433329"/>
                <a:ext cx="48768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05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Laws of EM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2.1	Two sides to electrodynamics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2.2	Lorentz force law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2.3	Maxwell’s equations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2.4	Different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17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EA88-4FC1-4679-B9BF-392E2F8BC9DC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00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DE8D-EE17-45D9-83B5-F09B3B0373F9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43000" y="532864"/>
                <a:ext cx="3581400" cy="1019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32864"/>
                <a:ext cx="3581400" cy="10191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5200" y="1943057"/>
                <a:ext cx="3581400" cy="102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1943057"/>
                <a:ext cx="3581400" cy="10287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43000" y="3495121"/>
                <a:ext cx="3581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495121"/>
                <a:ext cx="358140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65200" y="4495800"/>
                <a:ext cx="5438422" cy="102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𝐉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4495800"/>
                <a:ext cx="5438422" cy="10287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 hidden="1"/>
          <p:cNvCxnSpPr/>
          <p:nvPr/>
        </p:nvCxnSpPr>
        <p:spPr>
          <a:xfrm>
            <a:off x="2209800" y="304800"/>
            <a:ext cx="0" cy="5883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2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Perspective 1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6ABAD-6716-4FB0-8A01-2AA1DBD39FE3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44133" y="2286000"/>
                <a:ext cx="3581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133" y="2286000"/>
                <a:ext cx="3581400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96933" y="2286000"/>
                <a:ext cx="3581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33" y="2286000"/>
                <a:ext cx="358140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44133" y="3637367"/>
                <a:ext cx="3581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133" y="3637367"/>
                <a:ext cx="35814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96933" y="3637367"/>
                <a:ext cx="2235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HK" sz="3200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33" y="3637367"/>
                <a:ext cx="223520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169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Perspective 2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D3EE-2DBB-4E48-9344-95530C6027B0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8800" y="1417638"/>
                <a:ext cx="3581400" cy="102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1">
                              <a:latin typeface="Cambria Math" panose="02040503050406030204" pitchFamily="18" charset="0"/>
                            </a:rPr>
                            <m:t>𝐄</m:t>
                          </m:r>
                        </m:num>
                        <m:den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417638"/>
                <a:ext cx="3581400" cy="10287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181600" y="1417638"/>
                <a:ext cx="3581400" cy="102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b="1">
                              <a:latin typeface="Cambria Math" panose="02040503050406030204" pitchFamily="18" charset="0"/>
                            </a:rPr>
                            <m:t>𝐁</m:t>
                          </m:r>
                        </m:num>
                        <m:den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417638"/>
                <a:ext cx="3581400" cy="10287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3683675"/>
                <a:ext cx="747606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What about </a:t>
                </a:r>
                <a14:m>
                  <m:oMath xmlns:m="http://schemas.openxmlformats.org/officeDocument/2006/math">
                    <m:r>
                      <a:rPr lang="en-US" altLang="zh-HK" sz="3200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HK" sz="3200" b="1" i="0" smtClean="0">
                        <a:latin typeface="Cambria Math" panose="02040503050406030204" pitchFamily="18" charset="0"/>
                      </a:rPr>
                      <m:t>𝐄</m:t>
                    </m:r>
                  </m:oMath>
                </a14:m>
                <a:r>
                  <a:rPr lang="en-US" altLang="zh-HK" sz="3200" dirty="0"/>
                  <a:t>,</a:t>
                </a:r>
                <a:r>
                  <a:rPr lang="en-US" altLang="zh-HK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HK" sz="3200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HK" sz="3200" b="1" i="0" smtClean="0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zh-HK" altLang="en-US" sz="3200" dirty="0"/>
                  <a:t> </a:t>
                </a:r>
                <a:r>
                  <a:rPr lang="en-US" altLang="zh-HK" sz="3200" dirty="0"/>
                  <a:t>equations?</a:t>
                </a: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Pose as initial conditions</a:t>
                </a: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3200" dirty="0"/>
                  <a:t>Consistent for all times?</a:t>
                </a:r>
                <a:endParaRPr lang="zh-HK" alt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683675"/>
                <a:ext cx="7476067" cy="2031325"/>
              </a:xfrm>
              <a:prstGeom prst="rect">
                <a:avLst/>
              </a:prstGeom>
              <a:blipFill rotWithShape="0">
                <a:blip r:embed="rId4"/>
                <a:stretch>
                  <a:fillRect l="-1876" t="-3593" b="-868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2560638"/>
            <a:ext cx="4809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for initial value problems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7893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Perspective 3: Potentials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0A348-B6A2-456B-A97F-E13AF31FB4D0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21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474133" y="1299304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/>
              <a:t>Electrostatics</a:t>
            </a:r>
            <a:endParaRPr lang="zh-HK" alt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5173133" y="12954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/>
              <a:t>General </a:t>
            </a:r>
            <a:endParaRPr lang="zh-HK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800" y="2081007"/>
                <a:ext cx="2743200" cy="90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2800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HK" sz="28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81007"/>
                <a:ext cx="2743200" cy="90326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81600" y="2271027"/>
                <a:ext cx="2743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𝐷𝐴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271027"/>
                <a:ext cx="274320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5600" y="3073644"/>
                <a:ext cx="5105400" cy="1053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HK" sz="28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28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altLang="zh-HK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2800" b="1" i="0"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</m:d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2800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HK" sz="2800" b="1" i="0" smtClean="0"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HK" altLang="en-US" sz="28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" y="3073644"/>
                <a:ext cx="5105400" cy="10537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2000" y="4453387"/>
                <a:ext cx="2743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HK" sz="28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453387"/>
                <a:ext cx="274320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86400" y="4453387"/>
                <a:ext cx="2743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453387"/>
                <a:ext cx="274320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52800" y="5442278"/>
                <a:ext cx="2743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442278"/>
                <a:ext cx="274320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 hidden="1"/>
          <p:cNvCxnSpPr/>
          <p:nvPr/>
        </p:nvCxnSpPr>
        <p:spPr>
          <a:xfrm>
            <a:off x="6629400" y="1557010"/>
            <a:ext cx="0" cy="4234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 hidden="1"/>
          <p:cNvCxnSpPr/>
          <p:nvPr/>
        </p:nvCxnSpPr>
        <p:spPr>
          <a:xfrm>
            <a:off x="1905000" y="1905000"/>
            <a:ext cx="0" cy="350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2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Laws of EM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2.1	Two sides to electrodynamics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2.2	Lorentz force law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2.3	Maxwell’s equations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2.4	Different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FF95-44C5-48FC-BA87-B505290FCBC5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00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DA47-6DAF-42CE-B658-2606617FC307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524000"/>
                <a:ext cx="5334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𝐄</m:t>
                      </m:r>
                    </m:oMath>
                  </m:oMathPara>
                </a14:m>
                <a:endParaRPr lang="zh-HK" altLang="en-US" sz="32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5334000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800" y="2667000"/>
                <a:ext cx="5334000" cy="593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zh-HK" altLang="en-US" sz="32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667000"/>
                <a:ext cx="5334000" cy="5934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13200" y="1524000"/>
                <a:ext cx="1447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zh-HK" altLang="en-US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200" y="1524000"/>
                <a:ext cx="14478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13200" y="2675721"/>
                <a:ext cx="1447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zh-HK" altLang="en-US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200" y="2675721"/>
                <a:ext cx="144780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461000" y="3793321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800" dirty="0">
                <a:solidFill>
                  <a:srgbClr val="00B050"/>
                </a:solidFill>
              </a:rPr>
              <a:t>when material is present</a:t>
            </a:r>
            <a:endParaRPr lang="zh-HK" altLang="en-US" sz="2800" dirty="0">
              <a:solidFill>
                <a:srgbClr val="00B05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987800" y="1240909"/>
            <a:ext cx="1651000" cy="2286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Freeform 12"/>
          <p:cNvSpPr/>
          <p:nvPr/>
        </p:nvSpPr>
        <p:spPr>
          <a:xfrm>
            <a:off x="5479521" y="3073401"/>
            <a:ext cx="722047" cy="761470"/>
          </a:xfrm>
          <a:custGeom>
            <a:avLst/>
            <a:gdLst>
              <a:gd name="connsiteX0" fmla="*/ 719667 w 719667"/>
              <a:gd name="connsiteY0" fmla="*/ 423333 h 423333"/>
              <a:gd name="connsiteX1" fmla="*/ 0 w 719667"/>
              <a:gd name="connsiteY1" fmla="*/ 0 h 423333"/>
              <a:gd name="connsiteX0" fmla="*/ 743479 w 743479"/>
              <a:gd name="connsiteY0" fmla="*/ 575733 h 575733"/>
              <a:gd name="connsiteX1" fmla="*/ 0 w 743479"/>
              <a:gd name="connsiteY1" fmla="*/ 0 h 575733"/>
              <a:gd name="connsiteX0" fmla="*/ 743479 w 743479"/>
              <a:gd name="connsiteY0" fmla="*/ 575733 h 575733"/>
              <a:gd name="connsiteX1" fmla="*/ 0 w 743479"/>
              <a:gd name="connsiteY1" fmla="*/ 0 h 575733"/>
              <a:gd name="connsiteX0" fmla="*/ 743479 w 743479"/>
              <a:gd name="connsiteY0" fmla="*/ 716227 h 716227"/>
              <a:gd name="connsiteX1" fmla="*/ 0 w 743479"/>
              <a:gd name="connsiteY1" fmla="*/ 0 h 716227"/>
              <a:gd name="connsiteX0" fmla="*/ 743479 w 743479"/>
              <a:gd name="connsiteY0" fmla="*/ 716227 h 716227"/>
              <a:gd name="connsiteX1" fmla="*/ 0 w 743479"/>
              <a:gd name="connsiteY1" fmla="*/ 0 h 716227"/>
              <a:gd name="connsiteX0" fmla="*/ 722047 w 722047"/>
              <a:gd name="connsiteY0" fmla="*/ 761470 h 761470"/>
              <a:gd name="connsiteX1" fmla="*/ 0 w 722047"/>
              <a:gd name="connsiteY1" fmla="*/ 0 h 761470"/>
              <a:gd name="connsiteX0" fmla="*/ 722047 w 722047"/>
              <a:gd name="connsiteY0" fmla="*/ 761470 h 761470"/>
              <a:gd name="connsiteX1" fmla="*/ 0 w 722047"/>
              <a:gd name="connsiteY1" fmla="*/ 0 h 7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047" h="761470">
                <a:moveTo>
                  <a:pt x="722047" y="761470"/>
                </a:moveTo>
                <a:cubicBezTo>
                  <a:pt x="657577" y="474309"/>
                  <a:pt x="393082" y="51417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205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3. Covariance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8CD1-2EC6-47A6-81D9-0A7A3F74FA37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515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zh-HK" dirty="0"/>
              <a:t>There is no preferred frame</a:t>
            </a:r>
          </a:p>
          <a:p>
            <a:pPr>
              <a:spcAft>
                <a:spcPts val="1800"/>
              </a:spcAft>
            </a:pPr>
            <a:r>
              <a:rPr lang="en-US" altLang="zh-HK" dirty="0"/>
              <a:t>All physical phenomena can be explained by the same laws of physics in any frame</a:t>
            </a:r>
            <a:endParaRPr lang="zh-HK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3F0C-DBC0-4873-B098-98F7E8F6F63B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851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Example 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08EC7-7347-41C7-B9C6-D7BDED47A979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0" y="4828051"/>
                <a:ext cx="2895600" cy="109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828051"/>
                <a:ext cx="2895600" cy="109709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594247" y="2117328"/>
            <a:ext cx="5955506" cy="142611"/>
            <a:chOff x="1104900" y="2200011"/>
            <a:chExt cx="5955506" cy="76200"/>
          </a:xfrm>
        </p:grpSpPr>
        <p:sp>
          <p:nvSpPr>
            <p:cNvPr id="10" name="Oval 9"/>
            <p:cNvSpPr/>
            <p:nvPr/>
          </p:nvSpPr>
          <p:spPr>
            <a:xfrm>
              <a:off x="1104900" y="2200011"/>
              <a:ext cx="76200" cy="76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43000" y="2200011"/>
              <a:ext cx="5867400" cy="76200"/>
            </a:xfrm>
            <a:custGeom>
              <a:avLst/>
              <a:gdLst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  <a:gd name="connsiteX4" fmla="*/ 0 w 5867400"/>
                <a:gd name="connsiteY4" fmla="*/ 0 h 76200"/>
                <a:gd name="connsiteX0" fmla="*/ 0 w 5867400"/>
                <a:gd name="connsiteY0" fmla="*/ 0 h 91440"/>
                <a:gd name="connsiteX1" fmla="*/ 5867400 w 5867400"/>
                <a:gd name="connsiteY1" fmla="*/ 0 h 91440"/>
                <a:gd name="connsiteX2" fmla="*/ 5867400 w 5867400"/>
                <a:gd name="connsiteY2" fmla="*/ 76200 h 91440"/>
                <a:gd name="connsiteX3" fmla="*/ 0 w 5867400"/>
                <a:gd name="connsiteY3" fmla="*/ 76200 h 91440"/>
                <a:gd name="connsiteX4" fmla="*/ 91440 w 5867400"/>
                <a:gd name="connsiteY4" fmla="*/ 91440 h 91440"/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7400" h="76200">
                  <a:moveTo>
                    <a:pt x="0" y="0"/>
                  </a:moveTo>
                  <a:lnTo>
                    <a:pt x="5867400" y="0"/>
                  </a:lnTo>
                  <a:lnTo>
                    <a:pt x="5867400" y="76200"/>
                  </a:lnTo>
                  <a:lnTo>
                    <a:pt x="0" y="76200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984206" y="2200011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594247" y="3581400"/>
            <a:ext cx="5955506" cy="142611"/>
            <a:chOff x="1104900" y="2200011"/>
            <a:chExt cx="5955506" cy="76200"/>
          </a:xfrm>
        </p:grpSpPr>
        <p:sp>
          <p:nvSpPr>
            <p:cNvPr id="13" name="Oval 12"/>
            <p:cNvSpPr/>
            <p:nvPr/>
          </p:nvSpPr>
          <p:spPr>
            <a:xfrm>
              <a:off x="1104900" y="2200011"/>
              <a:ext cx="76200" cy="76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4" name="Rectangle 7"/>
            <p:cNvSpPr/>
            <p:nvPr/>
          </p:nvSpPr>
          <p:spPr>
            <a:xfrm>
              <a:off x="1143000" y="2200011"/>
              <a:ext cx="5867400" cy="76200"/>
            </a:xfrm>
            <a:custGeom>
              <a:avLst/>
              <a:gdLst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  <a:gd name="connsiteX4" fmla="*/ 0 w 5867400"/>
                <a:gd name="connsiteY4" fmla="*/ 0 h 76200"/>
                <a:gd name="connsiteX0" fmla="*/ 0 w 5867400"/>
                <a:gd name="connsiteY0" fmla="*/ 0 h 91440"/>
                <a:gd name="connsiteX1" fmla="*/ 5867400 w 5867400"/>
                <a:gd name="connsiteY1" fmla="*/ 0 h 91440"/>
                <a:gd name="connsiteX2" fmla="*/ 5867400 w 5867400"/>
                <a:gd name="connsiteY2" fmla="*/ 76200 h 91440"/>
                <a:gd name="connsiteX3" fmla="*/ 0 w 5867400"/>
                <a:gd name="connsiteY3" fmla="*/ 76200 h 91440"/>
                <a:gd name="connsiteX4" fmla="*/ 91440 w 5867400"/>
                <a:gd name="connsiteY4" fmla="*/ 91440 h 91440"/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7400" h="76200">
                  <a:moveTo>
                    <a:pt x="0" y="0"/>
                  </a:moveTo>
                  <a:lnTo>
                    <a:pt x="5867400" y="0"/>
                  </a:lnTo>
                  <a:lnTo>
                    <a:pt x="5867400" y="76200"/>
                  </a:lnTo>
                  <a:lnTo>
                    <a:pt x="0" y="76200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984206" y="2200011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4566047" y="3733993"/>
            <a:ext cx="0" cy="48398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43400" y="3733800"/>
                <a:ext cx="18288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HK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zh-HK" altLang="en-US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733800"/>
                <a:ext cx="1828800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1143000" y="2209800"/>
            <a:ext cx="0" cy="1442905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7200" y="2685030"/>
                <a:ext cx="75485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HK" altLang="en-US" sz="26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85030"/>
                <a:ext cx="754856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641872" y="1548277"/>
                <a:ext cx="49530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600" dirty="0">
                    <a:solidFill>
                      <a:schemeClr val="tx1"/>
                    </a:solidFill>
                  </a:rPr>
                  <a:t>mass </a:t>
                </a:r>
                <a14:m>
                  <m:oMath xmlns:m="http://schemas.openxmlformats.org/officeDocument/2006/math">
                    <m:r>
                      <a:rPr lang="en-US" altLang="zh-HK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HK" sz="2600" dirty="0">
                    <a:solidFill>
                      <a:schemeClr val="tx1"/>
                    </a:solidFill>
                  </a:rPr>
                  <a:t>,   charge </a:t>
                </a:r>
                <a14:m>
                  <m:oMath xmlns:m="http://schemas.openxmlformats.org/officeDocument/2006/math"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HK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zh-HK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872" y="1548277"/>
                <a:ext cx="4953000" cy="492443"/>
              </a:xfrm>
              <a:prstGeom prst="rect">
                <a:avLst/>
              </a:prstGeom>
              <a:blipFill rotWithShape="0">
                <a:blip r:embed="rId5"/>
                <a:stretch>
                  <a:fillRect l="-2214" t="-9877" b="-30864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56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DA2BE-8778-4D4F-B9E3-E6282C9F7AE8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27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00" y="1295400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Go to </a:t>
            </a:r>
            <a:r>
              <a:rPr lang="en-US" altLang="zh-HK" sz="3200"/>
              <a:t>moving frame</a:t>
            </a:r>
            <a:endParaRPr lang="zh-HK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00200" y="2362200"/>
                <a:ext cx="5943600" cy="1208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HK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HK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362200"/>
                <a:ext cx="5943600" cy="12087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543550" y="4471227"/>
            <a:ext cx="3581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600" dirty="0">
                <a:solidFill>
                  <a:srgbClr val="FF0000"/>
                </a:solidFill>
              </a:rPr>
              <a:t>Lorentz transformation</a:t>
            </a:r>
            <a:endParaRPr lang="zh-HK" altLang="en-US" sz="26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6324600" y="3649822"/>
            <a:ext cx="533400" cy="69357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37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Solve directly for moving wires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6FBA-ABCE-40E7-B62A-C46669CCAA32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0519" y="2915553"/>
                <a:ext cx="2895600" cy="109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~ </m:t>
                      </m:r>
                      <m:f>
                        <m:f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9" y="2915553"/>
                <a:ext cx="2895600" cy="109709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143000" y="1667436"/>
            <a:ext cx="5955506" cy="142611"/>
            <a:chOff x="1104900" y="2200011"/>
            <a:chExt cx="5955506" cy="76200"/>
          </a:xfrm>
        </p:grpSpPr>
        <p:sp>
          <p:nvSpPr>
            <p:cNvPr id="10" name="Oval 9"/>
            <p:cNvSpPr/>
            <p:nvPr/>
          </p:nvSpPr>
          <p:spPr>
            <a:xfrm>
              <a:off x="1104900" y="2200011"/>
              <a:ext cx="76200" cy="76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43000" y="2200011"/>
              <a:ext cx="5867400" cy="76200"/>
            </a:xfrm>
            <a:custGeom>
              <a:avLst/>
              <a:gdLst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  <a:gd name="connsiteX4" fmla="*/ 0 w 5867400"/>
                <a:gd name="connsiteY4" fmla="*/ 0 h 76200"/>
                <a:gd name="connsiteX0" fmla="*/ 0 w 5867400"/>
                <a:gd name="connsiteY0" fmla="*/ 0 h 91440"/>
                <a:gd name="connsiteX1" fmla="*/ 5867400 w 5867400"/>
                <a:gd name="connsiteY1" fmla="*/ 0 h 91440"/>
                <a:gd name="connsiteX2" fmla="*/ 5867400 w 5867400"/>
                <a:gd name="connsiteY2" fmla="*/ 76200 h 91440"/>
                <a:gd name="connsiteX3" fmla="*/ 0 w 5867400"/>
                <a:gd name="connsiteY3" fmla="*/ 76200 h 91440"/>
                <a:gd name="connsiteX4" fmla="*/ 91440 w 5867400"/>
                <a:gd name="connsiteY4" fmla="*/ 91440 h 91440"/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7400" h="76200">
                  <a:moveTo>
                    <a:pt x="0" y="0"/>
                  </a:moveTo>
                  <a:lnTo>
                    <a:pt x="5867400" y="0"/>
                  </a:lnTo>
                  <a:lnTo>
                    <a:pt x="5867400" y="76200"/>
                  </a:lnTo>
                  <a:lnTo>
                    <a:pt x="0" y="76200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984206" y="2200011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143000" y="2670620"/>
            <a:ext cx="5955506" cy="142611"/>
            <a:chOff x="1104900" y="2200011"/>
            <a:chExt cx="5955506" cy="76200"/>
          </a:xfrm>
        </p:grpSpPr>
        <p:sp>
          <p:nvSpPr>
            <p:cNvPr id="13" name="Oval 12"/>
            <p:cNvSpPr/>
            <p:nvPr/>
          </p:nvSpPr>
          <p:spPr>
            <a:xfrm>
              <a:off x="1104900" y="2200011"/>
              <a:ext cx="76200" cy="76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4" name="Rectangle 7"/>
            <p:cNvSpPr/>
            <p:nvPr/>
          </p:nvSpPr>
          <p:spPr>
            <a:xfrm>
              <a:off x="1143000" y="2200011"/>
              <a:ext cx="5867400" cy="76200"/>
            </a:xfrm>
            <a:custGeom>
              <a:avLst/>
              <a:gdLst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  <a:gd name="connsiteX4" fmla="*/ 0 w 5867400"/>
                <a:gd name="connsiteY4" fmla="*/ 0 h 76200"/>
                <a:gd name="connsiteX0" fmla="*/ 0 w 5867400"/>
                <a:gd name="connsiteY0" fmla="*/ 0 h 91440"/>
                <a:gd name="connsiteX1" fmla="*/ 5867400 w 5867400"/>
                <a:gd name="connsiteY1" fmla="*/ 0 h 91440"/>
                <a:gd name="connsiteX2" fmla="*/ 5867400 w 5867400"/>
                <a:gd name="connsiteY2" fmla="*/ 76200 h 91440"/>
                <a:gd name="connsiteX3" fmla="*/ 0 w 5867400"/>
                <a:gd name="connsiteY3" fmla="*/ 76200 h 91440"/>
                <a:gd name="connsiteX4" fmla="*/ 91440 w 5867400"/>
                <a:gd name="connsiteY4" fmla="*/ 91440 h 91440"/>
                <a:gd name="connsiteX0" fmla="*/ 0 w 5867400"/>
                <a:gd name="connsiteY0" fmla="*/ 0 h 76200"/>
                <a:gd name="connsiteX1" fmla="*/ 5867400 w 5867400"/>
                <a:gd name="connsiteY1" fmla="*/ 0 h 76200"/>
                <a:gd name="connsiteX2" fmla="*/ 5867400 w 5867400"/>
                <a:gd name="connsiteY2" fmla="*/ 76200 h 76200"/>
                <a:gd name="connsiteX3" fmla="*/ 0 w 58674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7400" h="76200">
                  <a:moveTo>
                    <a:pt x="0" y="0"/>
                  </a:moveTo>
                  <a:lnTo>
                    <a:pt x="5867400" y="0"/>
                  </a:lnTo>
                  <a:lnTo>
                    <a:pt x="5867400" y="76200"/>
                  </a:lnTo>
                  <a:lnTo>
                    <a:pt x="0" y="76200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984206" y="2200011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rot="5400000" flipV="1">
            <a:off x="7340500" y="2483585"/>
            <a:ext cx="0" cy="4839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93731" y="2479357"/>
                <a:ext cx="18288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HK" altLang="en-US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31" y="2479357"/>
                <a:ext cx="1828800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 hidden="1"/>
          <p:cNvGrpSpPr/>
          <p:nvPr/>
        </p:nvGrpSpPr>
        <p:grpSpPr>
          <a:xfrm>
            <a:off x="388144" y="1548277"/>
            <a:ext cx="6206728" cy="2445805"/>
            <a:chOff x="388144" y="1548277"/>
            <a:chExt cx="6206728" cy="2445805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1143000" y="2188633"/>
              <a:ext cx="0" cy="1805449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88144" y="2845135"/>
                  <a:ext cx="75485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HK" altLang="en-US" sz="2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44" y="2845135"/>
                  <a:ext cx="754856" cy="49244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641872" y="1548277"/>
                  <a:ext cx="49530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600" dirty="0">
                      <a:solidFill>
                        <a:schemeClr val="tx1"/>
                      </a:solidFill>
                    </a:rPr>
                    <a:t>mass </a:t>
                  </a:r>
                  <a14:m>
                    <m:oMath xmlns:m="http://schemas.openxmlformats.org/officeDocument/2006/math">
                      <m:r>
                        <a:rPr lang="en-US" altLang="zh-HK" sz="2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en-US" altLang="zh-HK" sz="2600" dirty="0">
                      <a:solidFill>
                        <a:schemeClr val="tx1"/>
                      </a:solidFill>
                    </a:rPr>
                    <a:t>, charge </a:t>
                  </a:r>
                  <a14:m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endParaRPr lang="zh-HK" altLang="en-US" sz="2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1872" y="1548277"/>
                  <a:ext cx="4953000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214" t="-9877" b="-30864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Arrow Connector 19"/>
          <p:cNvCxnSpPr/>
          <p:nvPr/>
        </p:nvCxnSpPr>
        <p:spPr>
          <a:xfrm rot="5400000" flipV="1">
            <a:off x="7340500" y="1492769"/>
            <a:ext cx="0" cy="4839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93731" y="1447800"/>
                <a:ext cx="18288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HK" altLang="en-US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31" y="1447800"/>
                <a:ext cx="1828800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-762000" y="4267200"/>
                <a:ext cx="63936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HK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0" y="4267200"/>
                <a:ext cx="6393656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-228600" y="5075105"/>
                <a:ext cx="6393656" cy="109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 ~ </m:t>
                      </m:r>
                      <m:f>
                        <m:f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HK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HK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0" y="5075105"/>
                <a:ext cx="6393656" cy="109709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 hidden="1"/>
          <p:cNvCxnSpPr/>
          <p:nvPr/>
        </p:nvCxnSpPr>
        <p:spPr>
          <a:xfrm>
            <a:off x="1641872" y="3237544"/>
            <a:ext cx="0" cy="3010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3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Compare </a:t>
            </a:r>
            <a:endParaRPr lang="zh-HK" alt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37F7-0B95-43D2-881F-E3A8C1C278DE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0600" y="2057400"/>
                <a:ext cx="2590800" cy="108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057400"/>
                <a:ext cx="2590800" cy="108068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62600" y="2305352"/>
                <a:ext cx="2590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305352"/>
                <a:ext cx="259080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76600" y="4454827"/>
                <a:ext cx="2590800" cy="5847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454827"/>
                <a:ext cx="25908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4572000" y="1752600"/>
            <a:ext cx="0" cy="18288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9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US" altLang="zh-HK" dirty="0"/>
              <a:t>Involve many laws of EM: consistent</a:t>
            </a:r>
          </a:p>
          <a:p>
            <a:pPr>
              <a:spcAft>
                <a:spcPts val="2400"/>
              </a:spcAft>
            </a:pPr>
            <a:r>
              <a:rPr lang="en-US" altLang="zh-HK" dirty="0"/>
              <a:t>Did not use time-dependent Maxwell equations, did not solve for wave solutions</a:t>
            </a:r>
          </a:p>
          <a:p>
            <a:pPr>
              <a:spcAft>
                <a:spcPts val="2400"/>
              </a:spcAft>
            </a:pPr>
            <a:r>
              <a:rPr lang="en-US" altLang="zh-HK" dirty="0"/>
              <a:t>Showed </a:t>
            </a:r>
            <a:r>
              <a:rPr lang="en-US" altLang="zh-HK" dirty="0">
                <a:solidFill>
                  <a:srgbClr val="FF0000"/>
                </a:solidFill>
              </a:rPr>
              <a:t>one</a:t>
            </a:r>
            <a:r>
              <a:rPr lang="en-US" altLang="zh-HK" dirty="0"/>
              <a:t> phenomenon consistently described</a:t>
            </a:r>
          </a:p>
          <a:p>
            <a:pPr>
              <a:spcAft>
                <a:spcPts val="2400"/>
              </a:spcAft>
            </a:pPr>
            <a:r>
              <a:rPr lang="en-US" altLang="zh-HK" dirty="0"/>
              <a:t>How do we deal with </a:t>
            </a:r>
            <a:r>
              <a:rPr lang="en-US" altLang="zh-HK" dirty="0">
                <a:solidFill>
                  <a:srgbClr val="FF0000"/>
                </a:solidFill>
              </a:rPr>
              <a:t>all</a:t>
            </a:r>
            <a:r>
              <a:rPr lang="en-US" altLang="zh-HK" dirty="0"/>
              <a:t> phenomena?</a:t>
            </a:r>
          </a:p>
          <a:p>
            <a:pPr>
              <a:spcAft>
                <a:spcPts val="2400"/>
              </a:spcAft>
            </a:pPr>
            <a:r>
              <a:rPr lang="en-US" altLang="zh-HK" dirty="0"/>
              <a:t>Examine laws</a:t>
            </a:r>
            <a:endParaRPr lang="zh-HK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A587-CCCE-41BB-9532-EFF3B96943B5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9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HK" dirty="0">
                <a:solidFill>
                  <a:srgbClr val="00B0F0"/>
                </a:solidFill>
              </a:rPr>
              <a:t>Velocity of light</a:t>
            </a:r>
            <a:endParaRPr lang="zh-HK" alt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170237"/>
                <a:ext cx="8229600" cy="3306763"/>
              </a:xfrm>
            </p:spPr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en-US" altLang="zh-HK" dirty="0"/>
                  <a:t>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HK" altLang="en-US" dirty="0"/>
                  <a:t> </a:t>
                </a:r>
                <a:r>
                  <a:rPr lang="en-US" altLang="zh-HK" dirty="0"/>
                  <a:t>property </a:t>
                </a:r>
                <a:r>
                  <a:rPr lang="en-US" altLang="zh-HK"/>
                  <a:t>of stage (</a:t>
                </a:r>
                <a:r>
                  <a:rPr lang="en-US" altLang="zh-HK" dirty="0"/>
                  <a:t>prior)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altLang="zh-H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HK" altLang="en-US" dirty="0"/>
                  <a:t> </a:t>
                </a:r>
                <a:r>
                  <a:rPr lang="en-US" altLang="zh-HK" dirty="0"/>
                  <a:t>property of players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altLang="zh-HK" dirty="0"/>
                  <a:t>What if photons never discovered?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altLang="zh-HK" dirty="0"/>
                  <a:t>What if photons have mass?</a:t>
                </a:r>
                <a:endParaRPr lang="zh-HK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170237"/>
                <a:ext cx="8229600" cy="3306763"/>
              </a:xfrm>
              <a:blipFill rotWithShape="0">
                <a:blip r:embed="rId2"/>
                <a:stretch>
                  <a:fillRect l="-1704" t="-2210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0C3A-C3E8-4AF8-8EEF-A7FFD6BCA513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31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00" y="1511995"/>
            <a:ext cx="792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The “velocity of light” need not have anything to do with light!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9571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Unification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ADD45-614C-4067-9076-D73459306DBE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933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C339E8-A8AF-4DE9-A7E2-30BEF7F1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 in one equation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DB713E-FB4C-4DB2-8B22-5F5A3616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27/04/2021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94BD13-6510-4B37-AD67-9F274C10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33</a:t>
            </a:fld>
            <a:endParaRPr lang="en-GB"/>
          </a:p>
        </p:txBody>
      </p:sp>
      <p:pic>
        <p:nvPicPr>
          <p:cNvPr id="1026" name="Picture 2" descr="physics in one equation的圖片搜尋結果">
            <a:extLst>
              <a:ext uri="{FF2B5EF4-FFF2-40B4-BE49-F238E27FC236}">
                <a16:creationId xmlns:a16="http://schemas.microsoft.com/office/drawing/2014/main" xmlns="" id="{132980E8-AF77-4314-996A-2393BDEF4B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2" y="1477118"/>
            <a:ext cx="8229600" cy="283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xmlns="" id="{8611500F-C9C8-4AB6-A4FB-6A2A116F7A28}"/>
              </a:ext>
            </a:extLst>
          </p:cNvPr>
          <p:cNvSpPr/>
          <p:nvPr/>
        </p:nvSpPr>
        <p:spPr>
          <a:xfrm>
            <a:off x="1676400" y="2163712"/>
            <a:ext cx="3048000" cy="731887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C702305-8587-4CAC-986B-8DCA3D8CB0F4}"/>
              </a:ext>
            </a:extLst>
          </p:cNvPr>
          <p:cNvSpPr/>
          <p:nvPr/>
        </p:nvSpPr>
        <p:spPr>
          <a:xfrm>
            <a:off x="4572000" y="2057400"/>
            <a:ext cx="160020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6E20116-C083-4C98-ACE0-EA4927425FC0}"/>
              </a:ext>
            </a:extLst>
          </p:cNvPr>
          <p:cNvSpPr/>
          <p:nvPr/>
        </p:nvSpPr>
        <p:spPr>
          <a:xfrm>
            <a:off x="228600" y="2895599"/>
            <a:ext cx="1828800" cy="114300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12C84D7-CF71-49FF-8488-73A6D396D8B3}"/>
              </a:ext>
            </a:extLst>
          </p:cNvPr>
          <p:cNvSpPr/>
          <p:nvPr/>
        </p:nvSpPr>
        <p:spPr>
          <a:xfrm>
            <a:off x="2743200" y="3207494"/>
            <a:ext cx="457200" cy="52630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42B455D-F9E9-4423-AAF4-E65A215994B5}"/>
              </a:ext>
            </a:extLst>
          </p:cNvPr>
          <p:cNvSpPr txBox="1"/>
          <p:nvPr/>
        </p:nvSpPr>
        <p:spPr>
          <a:xfrm>
            <a:off x="684052" y="4621164"/>
            <a:ext cx="7391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QM = path integral over exp (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sz="2800" i="1" dirty="0" err="1">
                <a:solidFill>
                  <a:schemeClr val="accent5">
                    <a:lumMod val="75000"/>
                  </a:schemeClr>
                </a:solidFill>
              </a:rPr>
              <a:t>S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FF0000"/>
                </a:solidFill>
              </a:rPr>
              <a:t>S</a:t>
            </a:r>
            <a:r>
              <a:rPr lang="en-US" sz="2800" dirty="0">
                <a:solidFill>
                  <a:srgbClr val="FF0000"/>
                </a:solidFill>
              </a:rPr>
              <a:t> is integral over </a:t>
            </a:r>
            <a:r>
              <a:rPr lang="en-US" sz="2800" dirty="0" err="1">
                <a:solidFill>
                  <a:srgbClr val="FF0000"/>
                </a:solidFill>
              </a:rPr>
              <a:t>Lagrangian</a:t>
            </a:r>
            <a:r>
              <a:rPr lang="en-US" sz="2800" dirty="0">
                <a:solidFill>
                  <a:srgbClr val="FF0000"/>
                </a:solidFill>
              </a:rPr>
              <a:t> density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Gauge fields including 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Replace derivative with covariant derivative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6E4929AD-DBDD-4E2E-812A-5FB97665D90D}"/>
              </a:ext>
            </a:extLst>
          </p:cNvPr>
          <p:cNvSpPr/>
          <p:nvPr/>
        </p:nvSpPr>
        <p:spPr>
          <a:xfrm>
            <a:off x="6324600" y="3227265"/>
            <a:ext cx="457200" cy="52630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7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5. Standard references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A479-D2F3-4F99-8014-7F29FF046E94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847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6DBD-8277-4BD7-BCAB-145BDB1F1CC6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35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04" y="1447800"/>
            <a:ext cx="2500296" cy="3505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204" y="1447800"/>
            <a:ext cx="2493222" cy="3505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47800"/>
            <a:ext cx="2502550" cy="350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4400" y="5987018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Book covers extracted from amazon preview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867368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A. Metric and units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36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81B5-CDB4-4153-9605-409B004C28D1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726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. Index notation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81B5-CDB4-4153-9605-409B004C28D1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27/04/2021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285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en-US" dirty="0">
                <a:solidFill>
                  <a:srgbClr val="FF0000"/>
                </a:solidFill>
              </a:rPr>
              <a:t>Analogy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38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BB59-60A1-4CCF-859C-7F481334E643}" type="datetime1">
              <a:rPr lang="en-GB" smtClean="0"/>
              <a:t>27/04/2021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824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46BE-23BF-493F-8A30-4D25F1280C37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39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14400" y="4800600"/>
            <a:ext cx="7315200" cy="6096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bg1">
                  <a:lumMod val="85000"/>
                </a:schemeClr>
              </a:gs>
              <a:gs pos="83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3412800" y="1748135"/>
            <a:ext cx="0" cy="76200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914400" y="2357735"/>
            <a:ext cx="24984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412800" y="1976735"/>
            <a:ext cx="48168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 hidden="1"/>
          <p:cNvGrpSpPr/>
          <p:nvPr/>
        </p:nvGrpSpPr>
        <p:grpSpPr>
          <a:xfrm>
            <a:off x="914400" y="1219200"/>
            <a:ext cx="7306733" cy="4466167"/>
            <a:chOff x="914400" y="1219200"/>
            <a:chExt cx="7306733" cy="4466167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914400" y="1219200"/>
              <a:ext cx="0" cy="434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8221133" y="1341967"/>
              <a:ext cx="0" cy="434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311540" y="1776680"/>
                <a:ext cx="121248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=11.0</m:t>
                      </m:r>
                    </m:oMath>
                  </m:oMathPara>
                </a14:m>
                <a:endParaRPr lang="zh-HK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40" y="1776680"/>
                <a:ext cx="1212484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660709" y="2157575"/>
                <a:ext cx="100578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=5.9</m:t>
                      </m:r>
                    </m:oMath>
                  </m:oMathPara>
                </a14:m>
                <a:endParaRPr lang="zh-HK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709" y="2157575"/>
                <a:ext cx="1005783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498495" y="3472085"/>
                <a:ext cx="838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HK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495" y="3472085"/>
                <a:ext cx="83820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614" y="2605234"/>
            <a:ext cx="1103962" cy="22188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953" y="2605234"/>
            <a:ext cx="1103962" cy="221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18834" y="3472084"/>
                <a:ext cx="838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HK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834" y="3472084"/>
                <a:ext cx="83820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914400" y="5591144"/>
            <a:ext cx="73152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57111" y="5391090"/>
                <a:ext cx="222977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HK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=16.9</m:t>
                      </m:r>
                    </m:oMath>
                  </m:oMathPara>
                </a14:m>
                <a:endParaRPr lang="zh-HK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111" y="5391090"/>
                <a:ext cx="2229778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7479476" y="44312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stage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404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 animBg="1"/>
      <p:bldP spid="30" grpId="0" animBg="1"/>
      <p:bldP spid="32" grpId="0"/>
      <p:bldP spid="35" grpId="0"/>
      <p:bldP spid="38" grpId="0" animBg="1"/>
      <p:bldP spid="3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7B54E-BFD9-46E4-AD41-56F7FFB9DBEE}" type="datetime1">
              <a:rPr lang="en-GB" smtClean="0"/>
              <a:t>27/04/2021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40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38500" y="329625"/>
                <a:ext cx="2667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329625"/>
                <a:ext cx="2667000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44800" y="990600"/>
                <a:ext cx="35898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16.9=11.0+5.9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800" y="990600"/>
                <a:ext cx="3589867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1905000"/>
                <a:ext cx="7848600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Is the width of the stage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=16.9</m:t>
                    </m:r>
                  </m:oMath>
                </a14:m>
                <a:r>
                  <a:rPr lang="zh-HK" altLang="en-US" sz="3200" dirty="0"/>
                  <a:t> </a:t>
                </a:r>
                <a:r>
                  <a:rPr lang="en-US" altLang="zh-HK" sz="3200" dirty="0">
                    <a:solidFill>
                      <a:srgbClr val="FF0000"/>
                    </a:solidFill>
                  </a:rPr>
                  <a:t>because</a:t>
                </a:r>
                <a:r>
                  <a:rPr lang="en-US" altLang="zh-HK" sz="3200" dirty="0"/>
                  <a:t> of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HK" altLang="en-US" sz="3200" dirty="0"/>
                  <a:t> </a:t>
                </a:r>
                <a:r>
                  <a:rPr lang="en-US" altLang="zh-HK" sz="3200" dirty="0"/>
                  <a:t>and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HK" sz="3200" dirty="0"/>
                  <a:t>?</a:t>
                </a:r>
              </a:p>
              <a:p>
                <a:pPr marL="285750" indent="-28575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If another pair of players measure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HK" sz="3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HK" sz="3200" dirty="0"/>
                  <a:t>, would we query whether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HK" sz="3200" dirty="0"/>
                  <a:t>?</a:t>
                </a:r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05000"/>
                <a:ext cx="7848600" cy="2523768"/>
              </a:xfrm>
              <a:prstGeom prst="rect">
                <a:avLst/>
              </a:prstGeom>
              <a:blipFill rotWithShape="0">
                <a:blip r:embed="rId4"/>
                <a:stretch>
                  <a:fillRect l="-1786" t="-2899" b="-700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1700" y="5029200"/>
                <a:ext cx="4800600" cy="593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HK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HK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Sup>
                            <m:sSub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func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HK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Sup>
                            <m:sSub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00" y="5029200"/>
                <a:ext cx="4800600" cy="5934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 hidden="1"/>
          <p:cNvCxnSpPr/>
          <p:nvPr/>
        </p:nvCxnSpPr>
        <p:spPr>
          <a:xfrm>
            <a:off x="4096800" y="479585"/>
            <a:ext cx="0" cy="1696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4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9516</TotalTime>
  <Words>608</Words>
  <Application>Microsoft Office PowerPoint</Application>
  <PresentationFormat>On-screen Show (4:3)</PresentationFormat>
  <Paragraphs>276</Paragraphs>
  <Slides>40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Cambria Math</vt:lpstr>
      <vt:lpstr>Calibri</vt:lpstr>
      <vt:lpstr>新細明體</vt:lpstr>
      <vt:lpstr>Office Theme</vt:lpstr>
      <vt:lpstr>Chapter 1 Introduction to electrodynamics</vt:lpstr>
      <vt:lpstr>Contents</vt:lpstr>
      <vt:lpstr>Contents</vt:lpstr>
      <vt:lpstr>1. Introduction</vt:lpstr>
      <vt:lpstr>Name 3 applications</vt:lpstr>
      <vt:lpstr>1. Introduction</vt:lpstr>
      <vt:lpstr>PowerPoint Presentation</vt:lpstr>
      <vt:lpstr>PowerPoint Presentation</vt:lpstr>
      <vt:lpstr>Range of interaction</vt:lpstr>
      <vt:lpstr>PowerPoint Presentation</vt:lpstr>
      <vt:lpstr>PowerPoint Presentation</vt:lpstr>
      <vt:lpstr>PowerPoint Presentation</vt:lpstr>
      <vt:lpstr>2. Laws of EM</vt:lpstr>
      <vt:lpstr>PowerPoint Presentation</vt:lpstr>
      <vt:lpstr>2. Laws of EM</vt:lpstr>
      <vt:lpstr>Force on point charge</vt:lpstr>
      <vt:lpstr>2. Laws of EM</vt:lpstr>
      <vt:lpstr>PowerPoint Presentation</vt:lpstr>
      <vt:lpstr>Perspective 1</vt:lpstr>
      <vt:lpstr>Perspective 2</vt:lpstr>
      <vt:lpstr>Perspective 3: Potentials</vt:lpstr>
      <vt:lpstr>2. Laws of EM</vt:lpstr>
      <vt:lpstr>PowerPoint Presentation</vt:lpstr>
      <vt:lpstr>3. Covariance</vt:lpstr>
      <vt:lpstr>PowerPoint Presentation</vt:lpstr>
      <vt:lpstr>Example </vt:lpstr>
      <vt:lpstr>PowerPoint Presentation</vt:lpstr>
      <vt:lpstr>Solve directly for moving wires</vt:lpstr>
      <vt:lpstr>Compare </vt:lpstr>
      <vt:lpstr>PowerPoint Presentation</vt:lpstr>
      <vt:lpstr>Velocity of light</vt:lpstr>
      <vt:lpstr>4. Unification</vt:lpstr>
      <vt:lpstr>Physics in one equation</vt:lpstr>
      <vt:lpstr>5. Standard references</vt:lpstr>
      <vt:lpstr>PowerPoint Presentation</vt:lpstr>
      <vt:lpstr>A. Metric and units</vt:lpstr>
      <vt:lpstr>B. Index notation</vt:lpstr>
      <vt:lpstr>C. Analogy</vt:lpstr>
      <vt:lpstr>PowerPoint Presentation</vt:lpstr>
      <vt:lpstr>PowerPoint Presentation</vt:lpstr>
    </vt:vector>
  </TitlesOfParts>
  <Company>cuhk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 Analysis Part I</dc:title>
  <dc:creator>KY</dc:creator>
  <cp:lastModifiedBy>Microsoft</cp:lastModifiedBy>
  <cp:revision>188</cp:revision>
  <cp:lastPrinted>2016-06-06T23:30:42Z</cp:lastPrinted>
  <dcterms:created xsi:type="dcterms:W3CDTF">2015-07-01T22:42:57Z</dcterms:created>
  <dcterms:modified xsi:type="dcterms:W3CDTF">2021-04-27T02:02:56Z</dcterms:modified>
</cp:coreProperties>
</file>